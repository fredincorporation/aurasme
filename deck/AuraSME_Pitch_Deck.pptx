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>
                <a:solidFill>
                  <a:srgbClr val="FFFFFF"/>
                </a:solidFill>
                <a:latin typeface="Calibri"/>
              </a:rPr>
              <a:t>AuraSME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DCEB"/>
                </a:solidFill>
                <a:latin typeface="Calibri"/>
              </a:rPr>
              <a:t>SME Quoting at Scale — from raw census to a bindable policy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7498079" cy="548640"/>
          </a:xfrm>
          <a:prstGeom prst="roundRect">
            <a:avLst>
              <a:gd name="adj" fmla="val 50000"/>
            </a:avLst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13892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Cigna × Ignyte  ·  Quote in Seconds Challenge  ·  Theme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6AFC8"/>
                </a:solidFill>
                <a:latin typeface="Calibri"/>
              </a:rPr>
              <a:t>Investor &amp; Judging Preview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Group-health quoting for UAE SMEs is stuck in spreadsheets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Manual and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Brokers reconcile employee censuses by hand in Excel and email premiums back and forth. Deals take days — and leak to whoever answers first.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Compliance is 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DHA, DOH and MOHAP rules differ by emirate and freezone. A missed co-pay or maternity clause can void a submission.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Dirty data stalls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Missing Emirates IDs, dates of birth and salary bands block underwriting. Most tools never catch it before pricing.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66359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Disconnected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Census, CRM, policy admin and payments live in silos, so every quote is re-keyed by hand.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The market rewards a compliant, automated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97963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99132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Mandated 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6331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Group medical insurance is mandatory for SMEs across UAE emirates — every licensed broker needs a repeatable quoting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997963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2199132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Scale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656331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Thousands of SMEs renew each year. Manual quoting cannot meet the volume or the “in seconds” expectation.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4235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375403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Regtech tailwind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832603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CBUAE oversight, data-residency and KYC expectations reward auditable, compliance-by-design engines.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4174235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471" y="4375403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AI that is 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832603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LLMs are now reliable enough to assist reconciliation — when grounded in deterministic rules, not vibes.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An AI-assisted, compliance-first engine: census → quote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3086100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0861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287268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Ingest &amp; reconcile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44468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Parse any Excel/CSV census, auto-derive Emirates-ID facts, and surface every blocking issue before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3086100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30861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4730" y="3287268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Price with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4730" y="3744468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A deterministic rating engine plus jurisdiction compliance checks produce an auditable, VAT-accurate premium.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5604" y="3086100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5604" y="30861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8212" y="3287268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Close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8212" y="3744468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Versioned quotes, one-click bind to a real Salesforce Opportunity, payment collection and policy issuance.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One pipeline, every stage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Upload census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2253" y="2148840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313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5133" y="2770632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Parse &amp; 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148840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2313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2770632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Auto-fix &amp; 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9481" y="2148840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2361" y="23134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2361" y="2770632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Compliance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9481" y="3977639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1E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2361" y="4142231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2361" y="4599431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Rate &amp; configure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3977639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1E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8747" y="4142231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4599431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Budget solver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02253" y="3977639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1E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5133" y="4142231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5133" y="4599431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Versioned quote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2533573" cy="1371600"/>
          </a:xfrm>
          <a:prstGeom prst="roundRect">
            <a:avLst>
              <a:gd name="adj" fmla="val 8000"/>
            </a:avLst>
          </a:prstGeom>
          <a:solidFill>
            <a:srgbClr val="1E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42231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99431"/>
            <a:ext cx="216781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Bind → CRM /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Every stage runs through the same engines the public API exposes — there are no hidden manual steps.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Census ingestion &amp;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Any layout, mapped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Flexible column mapping with an “unmapped columns” report — no rigid template forced on the broker.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Emirates-ID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Derives date of birth, gender and age from the Emirates ID pattern, and flags mismatches automatically.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Auto-fix vs human 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Salaries, relationships and duplicates resolve automatically; genuinely ambiguous lives route to the underwriter desk.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66359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Live quality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A data-quality score tells the broker exactly how close the census is to being priceable.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Compliance is built in, not bolted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97963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99132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DHA · Dubai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6331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Network and co-pay caps enforced for Dubai (DHA) submissions.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997963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4730" y="2199132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DOH · Abu Dhabi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4730" y="2656331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Pharmacy-limit and emirate-specific clauses for DOH.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5604" y="1997963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5604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8212" y="2199132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MOHAP · North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8212" y="2656331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Northern-Emirates rules applied by jurisdiction.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74235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375403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Chronic-care 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832603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30-day chronic medication continuity clause.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2122" y="4174235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2122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4730" y="4375403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Emirates-ID KYC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4730" y="4832603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Identity completeness checked before the quote is issued.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5604" y="4174235"/>
            <a:ext cx="3527450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5604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8212" y="4375403"/>
            <a:ext cx="30702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CBUAE &amp; residency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8212" y="4832603"/>
            <a:ext cx="30702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Data-residency and privacy disclosures derived from live config.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Deterministic pricing &amp; a budget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Transparent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Per-life breakdown, VAT, policy fee and monthly-per-employee — every dirham is traceable.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Instant configurator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Tier, co-pay, pharmacy limit and riders re-rate live, with compliance guardrails applied automatically.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Budget-target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Give a ceiling — “under AED 40k a month” — and the solver finds the best-coverage compliant plan, or explains the shortfall.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66359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Renewal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Age the whole population by a year and re-rate: a renewal is the same engine run forward twelve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 copilot that never dead-ends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Grounded in the live census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Ask for status, open issues, who needs review, or a budget quote — answered from real engine output.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LLM when configured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Groq Llama-3.3-70b handles free-text questions with a strict, data-only system prompt.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Deterministic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With no API key, a rule engine answers the same intents — the demo can never break on a missing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66359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Fully bilingual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Replies in English or Arabic, matching the active UI locale.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Contract-first, live-ready — no fake connections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857500"/>
            <a:ext cx="2581579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8575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058668"/>
            <a:ext cx="21243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Salesforce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515868"/>
            <a:ext cx="2124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Creates and updates a real Opportunity; binding sets it to Closed Won — verified against a live org.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6251" y="2857500"/>
            <a:ext cx="2581579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6251" y="28575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8859" y="3058668"/>
            <a:ext cx="21243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8859" y="3515868"/>
            <a:ext cx="2124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Raises a collection intent automatically on bind.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2857500"/>
            <a:ext cx="2581579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3" y="28575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6471" y="3058668"/>
            <a:ext cx="21243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Rating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471" y="3515868"/>
            <a:ext cx="2124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Posts the rating inputs for authoritative re-rating when an engine is configured.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475" y="2857500"/>
            <a:ext cx="2581579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475" y="2857500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083" y="3058668"/>
            <a:ext cx="21243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Policy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083" y="3515868"/>
            <a:ext cx="21243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Issues the policy record the moment a quote is bound.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Env-gated adapters: configured → a real call; unconfigured → the exact contract it would send. Secrets are never exposed.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 real, multi-tenant product — not 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Supabase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Password and magic-link sign-in; the caller’s identity is verified on every API request.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Durable per-broker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Each broker’s census, config, documents and version history persist server-side — they survive a cache clear, a device switch or a new browser.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Append-only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Every action is recorded, idempotent on replay, and cascade-safe when a user is removed.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166359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5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Honest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3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Funnel, conversion and turnaround are computed from the live quote ledger — never synthetic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Built for the UAE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English + Arabic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Full right-to-left layout with mirrored UI and proper Arabic typography.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Localized engine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Compliance findings, notifications and issues render in the active locale — not just the chrome.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Works on a shared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Session-scoped by default; signed-in brokers get their own durable, private workspace.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Differentiators that are hard to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97963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99132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Honest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6331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No fabricated data, no fake badges, no pretend OCR. Every number on screen traces to a real engine — which is exactly what a regulated insurer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997963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997963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2199132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Compliance-first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656331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Jurisdiction rules and governance are the core of the engine, not a checkbox added at the 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4235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375403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Seconds, not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832603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The whole path from upload to a bindable, CRM-synced quote is automated.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4174235"/>
            <a:ext cx="5419191" cy="19202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4174235"/>
            <a:ext cx="109728" cy="1920240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471" y="4375403"/>
            <a:ext cx="49619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API-first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832603"/>
            <a:ext cx="496199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Calibri"/>
              </a:rPr>
              <a:t>Thirteen documented endpoints; the web UI is just one client of the same engine.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Engineered and 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999427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9994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12A5A5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725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API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2387" y="2194560"/>
            <a:ext cx="1999427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2387" y="2651760"/>
            <a:ext cx="19994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12A5A5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9547" y="3566160"/>
            <a:ext cx="1725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Postgres tables · RLS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6134" y="2194560"/>
            <a:ext cx="1999427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6134" y="2651760"/>
            <a:ext cx="19994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12A5A5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3294" y="3566160"/>
            <a:ext cx="1725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Languages · EN/AR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9881" y="2194560"/>
            <a:ext cx="1999427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9881" y="2651760"/>
            <a:ext cx="19994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12A5A5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041" y="3566160"/>
            <a:ext cx="1725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Integration seams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3628" y="2194560"/>
            <a:ext cx="1999427" cy="20116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3628" y="2651760"/>
            <a:ext cx="19994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12A5A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0788" y="3566160"/>
            <a:ext cx="17251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Calibri"/>
              </a:rPr>
              <a:t>Regulators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Calibri"/>
              </a:rPr>
              <a:t>Production build green  ·  typecheck &amp; lint clean  ·  live Salesforce bind verified  ·  live Supabase workspace round-trip verified.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A5A5"/>
                </a:solidFill>
                <a:latin typeface="Calibri"/>
              </a:rP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Roadmap &amp; 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3716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929384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799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7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Theme 2 engine is complete and verified end-to-end — census to bound policy.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08375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07791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1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Deeper insurer rate tables, document OCR, multi-tenant broker organisations, and a production deployment.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087367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3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2511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Pilot SMEs, an underwriting data partner, and a path to production on the Cigna technology stack.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AuraSME  ·  SME Quoting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12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AuraSME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2A5A5"/>
                </a:solidFill>
                <a:latin typeface="Calibri"/>
              </a:rPr>
              <a:t>Quote in seconds. Bind with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6AFC8"/>
                </a:solidFill>
                <a:latin typeface="Calibri"/>
              </a:rPr>
              <a:t>Cigna × Ignyte — Quote in Seconds Challenge · Theme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